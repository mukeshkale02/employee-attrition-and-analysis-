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62" r:id="rId4"/>
    <p:sldId id="258" r:id="rId5"/>
    <p:sldId id="259" r:id="rId6"/>
    <p:sldId id="261" r:id="rId7"/>
    <p:sldId id="263" r:id="rId8"/>
    <p:sldId id="264" r:id="rId9"/>
    <p:sldId id="265" r:id="rId10"/>
    <p:sldId id="266" r:id="rId11"/>
    <p:sldId id="268" r:id="rId12"/>
    <p:sldId id="269" r:id="rId13"/>
    <p:sldId id="270" r:id="rId14"/>
    <p:sldId id="275" r:id="rId15"/>
    <p:sldId id="271" r:id="rId16"/>
    <p:sldId id="272" r:id="rId17"/>
    <p:sldId id="276" r:id="rId18"/>
    <p:sldId id="273" r:id="rId19"/>
    <p:sldId id="274" r:id="rId20"/>
    <p:sldId id="277" r:id="rId21"/>
    <p:sldId id="278"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549" autoAdjust="0"/>
    <p:restoredTop sz="94660"/>
  </p:normalViewPr>
  <p:slideViewPr>
    <p:cSldViewPr snapToGrid="0">
      <p:cViewPr varScale="1">
        <p:scale>
          <a:sx n="82" d="100"/>
          <a:sy n="82" d="100"/>
        </p:scale>
        <p:origin x="23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4C41-9DBB-AF12-B698-53DAA74BC1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D5BE4F-4391-E198-32ED-B49548F8E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4903D9-06CD-0D06-830B-E4DF6460C1B7}"/>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6AC45676-BC68-5356-419B-C13B38E93A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90BA82-321F-8317-FB5B-5397B589B5BF}"/>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3468510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5A22-0F6C-4667-674E-699B3C639C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A6F70A-6230-6627-30FB-1F04CF14B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CFB24D-83DF-DA53-B971-32D7860E8106}"/>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E91E2F29-889F-D14F-A1CD-EA873F8B2C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7190A6-3155-BEA9-D0D6-84147669974E}"/>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1757833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5A9C-6F0A-E614-0D56-A09E588CAF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C27865-A1EE-70F4-18C4-F39C8815B1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CCF681-7FB5-8630-0B22-C988A2C9A471}"/>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FEC1B821-7D19-5AF3-5DC8-D857907DE3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683DA2-CC57-36E8-3744-24CCCF4A16C2}"/>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843991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5BB1-E501-1A3C-1FB3-FD49B9ECE5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BA9B7F-BD1C-0ACA-D3BE-E9AA93607A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F2C7B0-09D7-A98F-49B3-7C0F32621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C00A4A-A96D-B71F-6686-120884CEAA3F}"/>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6" name="Footer Placeholder 5">
            <a:extLst>
              <a:ext uri="{FF2B5EF4-FFF2-40B4-BE49-F238E27FC236}">
                <a16:creationId xmlns:a16="http://schemas.microsoft.com/office/drawing/2014/main" id="{97584296-9F32-F430-F437-A9B342E54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C2278-0D1C-78B8-DF0B-48CF25993A7C}"/>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4283082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E03F9-6A9A-CD9E-57BD-A5BC6224B2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A1B123-6699-8860-8773-32D585E08C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2041D8-3153-D67C-2801-4A42999C18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246A76-8C72-F0EE-4852-0EE6525E94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49D36-005F-67CB-4D93-3EF30CB002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18CA58-F7E0-D4AC-135A-C6EBA8DA2990}"/>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8" name="Footer Placeholder 7">
            <a:extLst>
              <a:ext uri="{FF2B5EF4-FFF2-40B4-BE49-F238E27FC236}">
                <a16:creationId xmlns:a16="http://schemas.microsoft.com/office/drawing/2014/main" id="{EAEEEF17-8371-FA36-E7E4-0D29E0E5E5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75710D-DE4E-BAE6-6452-510F2914714D}"/>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1841275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88EB-ED61-14C5-45F8-C143CDC01E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7B5C79-C4C9-8E60-7B7B-B3E388F13B87}"/>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4" name="Footer Placeholder 3">
            <a:extLst>
              <a:ext uri="{FF2B5EF4-FFF2-40B4-BE49-F238E27FC236}">
                <a16:creationId xmlns:a16="http://schemas.microsoft.com/office/drawing/2014/main" id="{C92634EA-44D0-11BF-16E1-94B7A2CF24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ACE4EF-8513-785F-08E6-6D5CEB90C405}"/>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2136115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B8271-CA6C-B2B0-AE7A-D145BB9FB255}"/>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3" name="Footer Placeholder 2">
            <a:extLst>
              <a:ext uri="{FF2B5EF4-FFF2-40B4-BE49-F238E27FC236}">
                <a16:creationId xmlns:a16="http://schemas.microsoft.com/office/drawing/2014/main" id="{66E2FA1C-CCFF-D717-DF66-8C770975E9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F94636-066F-92CB-8C83-15560A42B1C8}"/>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1454122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F948-CE83-CD2E-BB5B-FE9B8048DD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ECCAB4-4E39-121B-AFA0-73E304D63A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C5E273B-7B18-99AD-B16C-8FCD0A4622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4CA74F-185B-5E96-689F-C97A5871567E}"/>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6" name="Footer Placeholder 5">
            <a:extLst>
              <a:ext uri="{FF2B5EF4-FFF2-40B4-BE49-F238E27FC236}">
                <a16:creationId xmlns:a16="http://schemas.microsoft.com/office/drawing/2014/main" id="{32C43D50-12B7-2D28-BFDD-0B33E70308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E3585B-54C1-95FE-BDDE-EB17CBD6DA4A}"/>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3945473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E7D73-164C-DBE9-CFF2-96F90C58B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086165-6C6C-7A20-B8FA-D686472F32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57C4345-A255-82EE-C407-9B3EAD043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8ACCA4-F462-42A7-CCAA-52C5C197F725}"/>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6" name="Footer Placeholder 5">
            <a:extLst>
              <a:ext uri="{FF2B5EF4-FFF2-40B4-BE49-F238E27FC236}">
                <a16:creationId xmlns:a16="http://schemas.microsoft.com/office/drawing/2014/main" id="{C054EF8B-5C02-66AF-ADE7-00C315109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109E5E-0E72-1FFC-7AE1-198F52FD5743}"/>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2217003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C607-7B5D-19EE-980A-7185DE41C3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D5D07A-62D5-B16B-A465-CE1DAAFCD0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4F703-0AE0-66E6-E060-5227D7F049D4}"/>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0710950B-0BD8-BD22-D153-2A515ACB7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51E208-EA10-15FB-36B8-2C65955E179A}"/>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416522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7DE15-C959-79D3-4347-6906A10E8C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F80D29-9E03-5F41-91BD-B9EE6A2074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7A47B5-2C2E-36C8-5FD6-2D8762730843}"/>
              </a:ext>
            </a:extLst>
          </p:cNvPr>
          <p:cNvSpPr>
            <a:spLocks noGrp="1"/>
          </p:cNvSpPr>
          <p:nvPr>
            <p:ph type="dt" sz="half" idx="10"/>
          </p:nvPr>
        </p:nvSpPr>
        <p:spPr/>
        <p:txBody>
          <a:body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0395AB98-92EE-82DB-1CCD-74ADCDC8B6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DF5D05-D3C9-856F-8317-3A1DAC9FDC82}"/>
              </a:ext>
            </a:extLst>
          </p:cNvPr>
          <p:cNvSpPr>
            <a:spLocks noGrp="1"/>
          </p:cNvSpPr>
          <p:nvPr>
            <p:ph type="sldNum" sz="quarter" idx="12"/>
          </p:nvPr>
        </p:nvSpPr>
        <p:spPr/>
        <p:txBody>
          <a:bodyPr/>
          <a:lstStyle/>
          <a:p>
            <a:fld id="{BFCE9331-361D-4F18-8EBF-8BAF2FEBBEAF}" type="slidenum">
              <a:rPr lang="en-IN" smtClean="0"/>
              <a:t>‹#›</a:t>
            </a:fld>
            <a:endParaRPr lang="en-IN"/>
          </a:p>
        </p:txBody>
      </p:sp>
    </p:spTree>
    <p:extLst>
      <p:ext uri="{BB962C8B-B14F-4D97-AF65-F5344CB8AC3E}">
        <p14:creationId xmlns:p14="http://schemas.microsoft.com/office/powerpoint/2010/main" val="4072946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19C164-F4FE-2E38-6991-163504CCCC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9B33BE-3233-CFEA-5995-25531793D7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A91841-9E66-D5AF-A107-597404A58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44C34D-A2B0-46B7-9B83-5DF85BD71187}" type="datetimeFigureOut">
              <a:rPr lang="en-IN" smtClean="0"/>
              <a:t>07-01-2024</a:t>
            </a:fld>
            <a:endParaRPr lang="en-IN"/>
          </a:p>
        </p:txBody>
      </p:sp>
      <p:sp>
        <p:nvSpPr>
          <p:cNvPr id="5" name="Footer Placeholder 4">
            <a:extLst>
              <a:ext uri="{FF2B5EF4-FFF2-40B4-BE49-F238E27FC236}">
                <a16:creationId xmlns:a16="http://schemas.microsoft.com/office/drawing/2014/main" id="{E1B96350-C758-1426-25E2-C992DC4732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DBAD5D-0181-92BE-B2ED-DD2D56F56F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CE9331-361D-4F18-8EBF-8BAF2FEBBEAF}" type="slidenum">
              <a:rPr lang="en-IN" smtClean="0"/>
              <a:t>‹#›</a:t>
            </a:fld>
            <a:endParaRPr lang="en-IN"/>
          </a:p>
        </p:txBody>
      </p:sp>
    </p:spTree>
    <p:extLst>
      <p:ext uri="{BB962C8B-B14F-4D97-AF65-F5344CB8AC3E}">
        <p14:creationId xmlns:p14="http://schemas.microsoft.com/office/powerpoint/2010/main" val="362599508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2642-C6F9-B624-FABB-6A15CF2F9AB8}"/>
              </a:ext>
            </a:extLst>
          </p:cNvPr>
          <p:cNvSpPr>
            <a:spLocks noGrp="1"/>
          </p:cNvSpPr>
          <p:nvPr>
            <p:ph type="ctrTitle"/>
          </p:nvPr>
        </p:nvSpPr>
        <p:spPr/>
        <p:txBody>
          <a:bodyPr/>
          <a:lstStyle/>
          <a:p>
            <a:r>
              <a:rPr lang="en-IN" dirty="0"/>
              <a:t>Employee Attrition Analysis Project</a:t>
            </a:r>
          </a:p>
        </p:txBody>
      </p:sp>
      <p:sp>
        <p:nvSpPr>
          <p:cNvPr id="3" name="Subtitle 2">
            <a:extLst>
              <a:ext uri="{FF2B5EF4-FFF2-40B4-BE49-F238E27FC236}">
                <a16:creationId xmlns:a16="http://schemas.microsoft.com/office/drawing/2014/main" id="{D395ECBF-7A52-7819-4C90-0D920521CB55}"/>
              </a:ext>
            </a:extLst>
          </p:cNvPr>
          <p:cNvSpPr>
            <a:spLocks noGrp="1"/>
          </p:cNvSpPr>
          <p:nvPr>
            <p:ph type="subTitle" idx="1"/>
          </p:nvPr>
        </p:nvSpPr>
        <p:spPr/>
        <p:txBody>
          <a:bodyPr>
            <a:normAutofit fontScale="77500" lnSpcReduction="20000"/>
          </a:bodyPr>
          <a:lstStyle/>
          <a:p>
            <a:r>
              <a:rPr lang="en-IN" dirty="0"/>
              <a:t>Leveraging Data Science to Understand and Project HR Trends </a:t>
            </a:r>
          </a:p>
          <a:p>
            <a:pPr algn="l"/>
            <a:r>
              <a:rPr lang="en-IN" dirty="0"/>
              <a:t>Name:- Prathamesh Pangare</a:t>
            </a:r>
          </a:p>
          <a:p>
            <a:pPr algn="l"/>
            <a:r>
              <a:rPr lang="en-IN" dirty="0"/>
              <a:t>               Saurav Tejam</a:t>
            </a:r>
          </a:p>
          <a:p>
            <a:pPr algn="l"/>
            <a:r>
              <a:rPr lang="en-IN" dirty="0"/>
              <a:t>               Mukesh Kale</a:t>
            </a:r>
          </a:p>
          <a:p>
            <a:pPr algn="l"/>
            <a:r>
              <a:rPr lang="en-IN" dirty="0"/>
              <a:t>Date:-   04-01-2024</a:t>
            </a:r>
          </a:p>
        </p:txBody>
      </p:sp>
    </p:spTree>
    <p:extLst>
      <p:ext uri="{BB962C8B-B14F-4D97-AF65-F5344CB8AC3E}">
        <p14:creationId xmlns:p14="http://schemas.microsoft.com/office/powerpoint/2010/main" val="444856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1A88-8E0A-5E9D-A756-F5C49BEE4347}"/>
              </a:ext>
            </a:extLst>
          </p:cNvPr>
          <p:cNvSpPr>
            <a:spLocks noGrp="1"/>
          </p:cNvSpPr>
          <p:nvPr>
            <p:ph type="title"/>
          </p:nvPr>
        </p:nvSpPr>
        <p:spPr>
          <a:xfrm>
            <a:off x="819538" y="365125"/>
            <a:ext cx="10515600" cy="1325563"/>
          </a:xfrm>
        </p:spPr>
        <p:txBody>
          <a:bodyPr/>
          <a:lstStyle/>
          <a:p>
            <a:pPr algn="ctr"/>
            <a:r>
              <a:rPr lang="en-IN" dirty="0"/>
              <a:t>Agenda</a:t>
            </a:r>
          </a:p>
        </p:txBody>
      </p:sp>
      <p:sp>
        <p:nvSpPr>
          <p:cNvPr id="3" name="Content Placeholder 2">
            <a:extLst>
              <a:ext uri="{FF2B5EF4-FFF2-40B4-BE49-F238E27FC236}">
                <a16:creationId xmlns:a16="http://schemas.microsoft.com/office/drawing/2014/main" id="{91E8FDC9-94FA-3BC6-8E37-67F480F77FC7}"/>
              </a:ext>
            </a:extLst>
          </p:cNvPr>
          <p:cNvSpPr>
            <a:spLocks noGrp="1"/>
          </p:cNvSpPr>
          <p:nvPr>
            <p:ph idx="1"/>
          </p:nvPr>
        </p:nvSpPr>
        <p:spPr/>
        <p:txBody>
          <a:bodyPr>
            <a:normAutofit lnSpcReduction="10000"/>
          </a:bodyPr>
          <a:lstStyle/>
          <a:p>
            <a:r>
              <a:rPr lang="en-IN" dirty="0"/>
              <a:t>Introduction</a:t>
            </a:r>
          </a:p>
          <a:p>
            <a:r>
              <a:rPr lang="en-IN" dirty="0"/>
              <a:t>Understanding HR Attrition</a:t>
            </a:r>
          </a:p>
          <a:p>
            <a:r>
              <a:rPr lang="en-IN" dirty="0"/>
              <a:t>Project Overview</a:t>
            </a:r>
          </a:p>
          <a:p>
            <a:r>
              <a:rPr lang="en-IN" dirty="0"/>
              <a:t>Data Handling</a:t>
            </a:r>
          </a:p>
          <a:p>
            <a:r>
              <a:rPr lang="en-IN" dirty="0"/>
              <a:t>Exploratory Data Analysis (EDA)</a:t>
            </a:r>
          </a:p>
          <a:p>
            <a:r>
              <a:rPr lang="en-IN" dirty="0"/>
              <a:t>Model Building</a:t>
            </a:r>
          </a:p>
          <a:p>
            <a:r>
              <a:rPr lang="en-IN" dirty="0"/>
              <a:t>Insights and Patterns</a:t>
            </a:r>
          </a:p>
          <a:p>
            <a:r>
              <a:rPr lang="en-IN" dirty="0"/>
              <a:t>Challenges and Solution</a:t>
            </a:r>
          </a:p>
          <a:p>
            <a:r>
              <a:rPr lang="en-IN" dirty="0"/>
              <a:t>Conclusion</a:t>
            </a:r>
          </a:p>
        </p:txBody>
      </p:sp>
    </p:spTree>
    <p:extLst>
      <p:ext uri="{BB962C8B-B14F-4D97-AF65-F5344CB8AC3E}">
        <p14:creationId xmlns:p14="http://schemas.microsoft.com/office/powerpoint/2010/main" val="940815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37F07-B12A-482E-E713-77F665255964}"/>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5C25847D-B78E-70A0-BE4E-A470F73BFEAC}"/>
              </a:ext>
            </a:extLst>
          </p:cNvPr>
          <p:cNvSpPr>
            <a:spLocks noGrp="1"/>
          </p:cNvSpPr>
          <p:nvPr>
            <p:ph idx="1"/>
          </p:nvPr>
        </p:nvSpPr>
        <p:spPr/>
        <p:txBody>
          <a:bodyPr>
            <a:normAutofit/>
          </a:bodyPr>
          <a:lstStyle/>
          <a:p>
            <a:pPr marL="0" indent="0">
              <a:buNone/>
            </a:pPr>
            <a:r>
              <a:rPr lang="en-US" dirty="0"/>
              <a:t> 'Employee Attrition Analysis ' In today's fast-paced corporate world, understanding why employees leave is crucial for any organization's growth and stability. Our project delves into the intricacies of employee attrition, employing advanced data analysis techniques to uncover the underlying reasons behind staff turnover. We aim to provide insights that help in creating a more engaging and fulfilling work environment, ultimately leading to reduced attrition rates and satisfied workforce. This presentation will guide you through our approach, findings, and recommendations, shedding light on how we can better retain talent and foster a positive organizational culture .</a:t>
            </a:r>
            <a:endParaRPr lang="en-IN" dirty="0"/>
          </a:p>
        </p:txBody>
      </p:sp>
    </p:spTree>
    <p:extLst>
      <p:ext uri="{BB962C8B-B14F-4D97-AF65-F5344CB8AC3E}">
        <p14:creationId xmlns:p14="http://schemas.microsoft.com/office/powerpoint/2010/main" val="1672813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CB91-6FF0-7916-9E8B-E57A7D70C6E8}"/>
              </a:ext>
            </a:extLst>
          </p:cNvPr>
          <p:cNvSpPr>
            <a:spLocks noGrp="1"/>
          </p:cNvSpPr>
          <p:nvPr>
            <p:ph type="title"/>
          </p:nvPr>
        </p:nvSpPr>
        <p:spPr/>
        <p:txBody>
          <a:bodyPr/>
          <a:lstStyle/>
          <a:p>
            <a:r>
              <a:rPr lang="en-IN" dirty="0"/>
              <a:t>Understanding HR Attrition</a:t>
            </a:r>
          </a:p>
        </p:txBody>
      </p:sp>
      <p:sp>
        <p:nvSpPr>
          <p:cNvPr id="3" name="Content Placeholder 2">
            <a:extLst>
              <a:ext uri="{FF2B5EF4-FFF2-40B4-BE49-F238E27FC236}">
                <a16:creationId xmlns:a16="http://schemas.microsoft.com/office/drawing/2014/main" id="{FAB6BD3B-D7CA-0293-96F4-98287EC8787E}"/>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IN" dirty="0"/>
              <a:t>Definition :- </a:t>
            </a:r>
            <a:r>
              <a:rPr lang="en-US" dirty="0"/>
              <a:t> Attrition in HR refers to the natural process of workforce reduction due to employees leaving the company. This can be voluntary, such as through resignations or retirements, or involuntary, like layoffs or terminations. </a:t>
            </a:r>
          </a:p>
          <a:p>
            <a:pPr>
              <a:buFont typeface="Wingdings" panose="05000000000000000000" pitchFamily="2" charset="2"/>
              <a:buChar char="Ø"/>
            </a:pPr>
            <a:r>
              <a:rPr lang="en-US" dirty="0"/>
              <a:t>Types of Attrition :-</a:t>
            </a:r>
          </a:p>
          <a:p>
            <a:pPr>
              <a:buSzPct val="75000"/>
            </a:pPr>
            <a:r>
              <a:rPr lang="en-US" dirty="0"/>
              <a:t>Voluntary Attrition: Occurs when employees choose to leave the organization, often for reasons like career advancement, personal reasons, or better opportunities elsewhere.</a:t>
            </a:r>
          </a:p>
          <a:p>
            <a:pPr>
              <a:buSzPct val="75000"/>
            </a:pPr>
            <a:r>
              <a:rPr lang="en-US" dirty="0"/>
              <a:t>Involuntary Attrition: Involves employees leaving due to organizational decisions, such as layoffs, restructuring, or termination due to performance issues.</a:t>
            </a:r>
          </a:p>
        </p:txBody>
      </p:sp>
    </p:spTree>
    <p:extLst>
      <p:ext uri="{BB962C8B-B14F-4D97-AF65-F5344CB8AC3E}">
        <p14:creationId xmlns:p14="http://schemas.microsoft.com/office/powerpoint/2010/main" val="3869117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464AC-F92C-B010-FFC5-4F14FE23BE92}"/>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F873E000-6C70-6B4D-9147-1FE2B84E741F}"/>
              </a:ext>
            </a:extLst>
          </p:cNvPr>
          <p:cNvSpPr>
            <a:spLocks noGrp="1"/>
          </p:cNvSpPr>
          <p:nvPr>
            <p:ph idx="1"/>
          </p:nvPr>
        </p:nvSpPr>
        <p:spPr>
          <a:xfrm>
            <a:off x="838200" y="0"/>
            <a:ext cx="10515600" cy="5001306"/>
          </a:xfrm>
        </p:spPr>
        <p:txBody>
          <a:bodyPr/>
          <a:lstStyle/>
          <a:p>
            <a:pPr marL="0" indent="0">
              <a:buNone/>
            </a:pPr>
            <a:r>
              <a:rPr lang="en-US" dirty="0"/>
              <a:t>The Role of Data Analysis in Understanding Attrition Leveraging data analytics and machine learning techniques to analyze HR data can provide valuable insights into attrition trends and patterns . This analysis helps in identifying risk factors and predictive indicators, allowing organizations to proactively manage and reduce employee turnover.</a:t>
            </a:r>
            <a:endParaRPr lang="en-IN" dirty="0"/>
          </a:p>
        </p:txBody>
      </p:sp>
    </p:spTree>
    <p:extLst>
      <p:ext uri="{BB962C8B-B14F-4D97-AF65-F5344CB8AC3E}">
        <p14:creationId xmlns:p14="http://schemas.microsoft.com/office/powerpoint/2010/main" val="1647187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A181-4B5E-1841-BDEC-1361AC0CE391}"/>
              </a:ext>
            </a:extLst>
          </p:cNvPr>
          <p:cNvSpPr>
            <a:spLocks noGrp="1"/>
          </p:cNvSpPr>
          <p:nvPr>
            <p:ph type="title"/>
          </p:nvPr>
        </p:nvSpPr>
        <p:spPr/>
        <p:txBody>
          <a:bodyPr/>
          <a:lstStyle/>
          <a:p>
            <a:pPr algn="ctr"/>
            <a:r>
              <a:rPr lang="en-IN" dirty="0"/>
              <a:t>Project Overview</a:t>
            </a:r>
          </a:p>
        </p:txBody>
      </p:sp>
      <p:sp>
        <p:nvSpPr>
          <p:cNvPr id="3" name="Content Placeholder 2">
            <a:extLst>
              <a:ext uri="{FF2B5EF4-FFF2-40B4-BE49-F238E27FC236}">
                <a16:creationId xmlns:a16="http://schemas.microsoft.com/office/drawing/2014/main" id="{BEA17FD9-B0AE-D02C-CD39-95FDE0C8FE47}"/>
              </a:ext>
            </a:extLst>
          </p:cNvPr>
          <p:cNvSpPr>
            <a:spLocks noGrp="1"/>
          </p:cNvSpPr>
          <p:nvPr>
            <p:ph idx="1"/>
          </p:nvPr>
        </p:nvSpPr>
        <p:spPr/>
        <p:txBody>
          <a:bodyPr>
            <a:normAutofit fontScale="77500" lnSpcReduction="20000"/>
          </a:bodyPr>
          <a:lstStyle/>
          <a:p>
            <a:pPr>
              <a:buFont typeface="Wingdings" panose="05000000000000000000" pitchFamily="2" charset="2"/>
              <a:buChar char="Ø"/>
            </a:pPr>
            <a:r>
              <a:rPr lang="en-IN" dirty="0"/>
              <a:t>Objective: To analyze and predict employee attrition using data-driven approaches, enabling proactive HR strategies. Scope of the Project Data Utilization: Leveraging a comprehensive HR dataset covering various aspects like demographics, job roles, satisfaction levels, income details, and more. Analysis Techniques: Employing Exploratory Data Analysis (EDA) to uncover underlying patterns and using Machine Learning models for prediction.</a:t>
            </a:r>
          </a:p>
          <a:p>
            <a:pPr>
              <a:buFont typeface="Wingdings" panose="05000000000000000000" pitchFamily="2" charset="2"/>
              <a:buChar char="Ø"/>
            </a:pPr>
            <a:r>
              <a:rPr lang="en-IN" dirty="0"/>
              <a:t>Methodology </a:t>
            </a:r>
          </a:p>
          <a:p>
            <a:pPr>
              <a:buSzPct val="75000"/>
            </a:pPr>
            <a:r>
              <a:rPr lang="en-IN" dirty="0"/>
              <a:t>Data Collection: Gathering relevant HR data, ensuring a robust and representative dataset . </a:t>
            </a:r>
          </a:p>
          <a:p>
            <a:pPr>
              <a:buSzPct val="75000"/>
            </a:pPr>
            <a:r>
              <a:rPr lang="en-IN" dirty="0"/>
              <a:t>Data Preprocessing: Cleaning and transforming data for analysis, including handling missing values, encoding categorical variables, and normalizing data .</a:t>
            </a:r>
          </a:p>
          <a:p>
            <a:pPr>
              <a:buSzPct val="75000"/>
            </a:pPr>
            <a:r>
              <a:rPr lang="en-IN" dirty="0"/>
              <a:t>Exploratory Data Analysis (EDA): Visualizing and examining data to understand trends, anomalies, and correlations . </a:t>
            </a:r>
          </a:p>
          <a:p>
            <a:pPr>
              <a:buSzPct val="75000"/>
            </a:pPr>
            <a:r>
              <a:rPr lang="en-IN" dirty="0"/>
              <a:t>Model Building: Developing predictive models using algorithms like Logistic Regression, Decision Trees, Random Forest, and Gradient Boosting.</a:t>
            </a:r>
          </a:p>
          <a:p>
            <a:pPr>
              <a:buSzPct val="75000"/>
            </a:pPr>
            <a:endParaRPr lang="en-IN" dirty="0"/>
          </a:p>
        </p:txBody>
      </p:sp>
    </p:spTree>
    <p:extLst>
      <p:ext uri="{BB962C8B-B14F-4D97-AF65-F5344CB8AC3E}">
        <p14:creationId xmlns:p14="http://schemas.microsoft.com/office/powerpoint/2010/main" val="689569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BE62-94B9-A5F7-AA9D-6B9CB19EBAD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29306D0C-5862-00CC-D648-2803812384C4}"/>
              </a:ext>
            </a:extLst>
          </p:cNvPr>
          <p:cNvSpPr>
            <a:spLocks noGrp="1"/>
          </p:cNvSpPr>
          <p:nvPr>
            <p:ph idx="1"/>
          </p:nvPr>
        </p:nvSpPr>
        <p:spPr>
          <a:xfrm>
            <a:off x="838200" y="905069"/>
            <a:ext cx="10515600" cy="5271893"/>
          </a:xfrm>
        </p:spPr>
        <p:txBody>
          <a:bodyPr/>
          <a:lstStyle/>
          <a:p>
            <a:pPr>
              <a:buSzPct val="75000"/>
            </a:pPr>
            <a:r>
              <a:rPr lang="en-US" dirty="0"/>
              <a:t>Insight Generation: Extracting meaningful insights about factors influencing attrition and predicting future trends.</a:t>
            </a:r>
          </a:p>
          <a:p>
            <a:pPr>
              <a:buSzPct val="75000"/>
            </a:pPr>
            <a:r>
              <a:rPr lang="en-US" dirty="0"/>
              <a:t>Goals and Expectations Predictive Insights: Identifying key factors that contribute to employee attrition, facilitating targeted intervention strategies.</a:t>
            </a:r>
          </a:p>
          <a:p>
            <a:pPr>
              <a:buSzPct val="75000"/>
            </a:pPr>
            <a:r>
              <a:rPr lang="en-US" dirty="0"/>
              <a:t>Actionable Recommendations: Providing data-backed recommendations to HR for policy and strategic adjustments.</a:t>
            </a:r>
          </a:p>
          <a:p>
            <a:pPr>
              <a:buSzPct val="75000"/>
            </a:pPr>
            <a:r>
              <a:rPr lang="en-US" dirty="0"/>
              <a:t> Enhancing HR Practices: Using the findings to improve employee retention, job satisfaction, and overall workplace environment.</a:t>
            </a:r>
            <a:endParaRPr lang="en-IN" dirty="0"/>
          </a:p>
        </p:txBody>
      </p:sp>
    </p:spTree>
    <p:extLst>
      <p:ext uri="{BB962C8B-B14F-4D97-AF65-F5344CB8AC3E}">
        <p14:creationId xmlns:p14="http://schemas.microsoft.com/office/powerpoint/2010/main" val="4161316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4283-5925-6319-523A-954D4E40A813}"/>
              </a:ext>
            </a:extLst>
          </p:cNvPr>
          <p:cNvSpPr>
            <a:spLocks noGrp="1"/>
          </p:cNvSpPr>
          <p:nvPr>
            <p:ph type="title"/>
          </p:nvPr>
        </p:nvSpPr>
        <p:spPr/>
        <p:txBody>
          <a:bodyPr/>
          <a:lstStyle/>
          <a:p>
            <a:pPr algn="ctr"/>
            <a:r>
              <a:rPr lang="en-IN" dirty="0"/>
              <a:t>Data Handling</a:t>
            </a:r>
          </a:p>
        </p:txBody>
      </p:sp>
      <p:sp>
        <p:nvSpPr>
          <p:cNvPr id="3" name="Content Placeholder 2">
            <a:extLst>
              <a:ext uri="{FF2B5EF4-FFF2-40B4-BE49-F238E27FC236}">
                <a16:creationId xmlns:a16="http://schemas.microsoft.com/office/drawing/2014/main" id="{02AFEBC9-DA26-98A2-6820-B201205C84BD}"/>
              </a:ext>
            </a:extLst>
          </p:cNvPr>
          <p:cNvSpPr>
            <a:spLocks noGrp="1"/>
          </p:cNvSpPr>
          <p:nvPr>
            <p:ph idx="1"/>
          </p:nvPr>
        </p:nvSpPr>
        <p:spPr/>
        <p:txBody>
          <a:bodyPr>
            <a:normAutofit fontScale="92500" lnSpcReduction="10000"/>
          </a:bodyPr>
          <a:lstStyle/>
          <a:p>
            <a:pPr>
              <a:buSzPct val="75000"/>
            </a:pPr>
            <a:r>
              <a:rPr lang="en-US" dirty="0"/>
              <a:t>Data Collection and Acquisition: Briefly describe the sources of your HR data, ensuring it's comprehensive and representative of the workforce.</a:t>
            </a:r>
          </a:p>
          <a:p>
            <a:pPr>
              <a:buSzPct val="75000"/>
            </a:pPr>
            <a:r>
              <a:rPr lang="en-US" dirty="0"/>
              <a:t>Data Cleaning: Highlight the steps taken to clean the data. This includes handling missing values, removing duplicates, and addressing any inconsistencies or errors in the data.</a:t>
            </a:r>
          </a:p>
          <a:p>
            <a:pPr>
              <a:buSzPct val="75000"/>
            </a:pPr>
            <a:r>
              <a:rPr lang="en-US" dirty="0"/>
              <a:t>Preparing Data for Analysis Data Transformation: Discuss how you transformed raw data into a format suitable for analysis. Mention any encoding of categorical variables, normalization or standardization of numerical data, and any data type conversions that were performed.</a:t>
            </a:r>
          </a:p>
          <a:p>
            <a:pPr>
              <a:buSzPct val="75000"/>
            </a:pPr>
            <a:r>
              <a:rPr lang="en-US" dirty="0"/>
              <a:t>Feature Engineering: Explain how you created new features or modified existing ones to better capture the nuances in your data, making it more informative for the predictive models.</a:t>
            </a:r>
            <a:endParaRPr lang="en-IN" dirty="0"/>
          </a:p>
        </p:txBody>
      </p:sp>
    </p:spTree>
    <p:extLst>
      <p:ext uri="{BB962C8B-B14F-4D97-AF65-F5344CB8AC3E}">
        <p14:creationId xmlns:p14="http://schemas.microsoft.com/office/powerpoint/2010/main" val="519386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9E44-011A-5D31-DF76-D213609999E3}"/>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34B39D17-D07A-556D-5CEC-514F1765EFAD}"/>
              </a:ext>
            </a:extLst>
          </p:cNvPr>
          <p:cNvSpPr>
            <a:spLocks noGrp="1"/>
          </p:cNvSpPr>
          <p:nvPr>
            <p:ph idx="1"/>
          </p:nvPr>
        </p:nvSpPr>
        <p:spPr>
          <a:xfrm>
            <a:off x="838200" y="1819469"/>
            <a:ext cx="10515600" cy="4357494"/>
          </a:xfrm>
        </p:spPr>
        <p:txBody>
          <a:bodyPr/>
          <a:lstStyle/>
          <a:p>
            <a:pPr>
              <a:buSzPct val="75000"/>
            </a:pPr>
            <a:r>
              <a:rPr lang="en-US" dirty="0"/>
              <a:t>Data Splitting Training and Test Sets: Describe how you split your data into training and test sets, ensuring that the model is trained and evaluated on different subsets of data for unbiased performance estimation.</a:t>
            </a:r>
          </a:p>
          <a:p>
            <a:pPr>
              <a:buSzPct val="75000"/>
            </a:pPr>
            <a:r>
              <a:rPr lang="en-US" dirty="0"/>
              <a:t>Ensuring Data Quality Checks: Elaborate on the processes or checks you performed to ensure data quality, such as outlier detection or validation of data against known benchmarks or standards.</a:t>
            </a:r>
            <a:endParaRPr lang="en-IN" dirty="0"/>
          </a:p>
        </p:txBody>
      </p:sp>
    </p:spTree>
    <p:extLst>
      <p:ext uri="{BB962C8B-B14F-4D97-AF65-F5344CB8AC3E}">
        <p14:creationId xmlns:p14="http://schemas.microsoft.com/office/powerpoint/2010/main" val="344420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129C-E08D-82B0-BED4-3C1B2BDB28DF}"/>
              </a:ext>
            </a:extLst>
          </p:cNvPr>
          <p:cNvSpPr>
            <a:spLocks noGrp="1"/>
          </p:cNvSpPr>
          <p:nvPr>
            <p:ph type="title"/>
          </p:nvPr>
        </p:nvSpPr>
        <p:spPr/>
        <p:txBody>
          <a:bodyPr/>
          <a:lstStyle/>
          <a:p>
            <a:pPr algn="ctr"/>
            <a:r>
              <a:rPr lang="en-IN" dirty="0"/>
              <a:t>Exploratory Data Analysis (EDA)</a:t>
            </a:r>
          </a:p>
        </p:txBody>
      </p:sp>
      <p:sp>
        <p:nvSpPr>
          <p:cNvPr id="3" name="Content Placeholder 2">
            <a:extLst>
              <a:ext uri="{FF2B5EF4-FFF2-40B4-BE49-F238E27FC236}">
                <a16:creationId xmlns:a16="http://schemas.microsoft.com/office/drawing/2014/main" id="{D40E94CD-DA40-3540-A6BC-EE64B037B406}"/>
              </a:ext>
            </a:extLst>
          </p:cNvPr>
          <p:cNvSpPr>
            <a:spLocks noGrp="1"/>
          </p:cNvSpPr>
          <p:nvPr>
            <p:ph idx="1"/>
          </p:nvPr>
        </p:nvSpPr>
        <p:spPr/>
        <p:txBody>
          <a:bodyPr/>
          <a:lstStyle/>
          <a:p>
            <a:r>
              <a:rPr lang="en-IN" dirty="0"/>
              <a:t>Objective : </a:t>
            </a:r>
            <a:r>
              <a:rPr lang="en-US" dirty="0"/>
              <a:t>To explore and understand the data, uncovering key patterns, relationships, and anomalies.</a:t>
            </a:r>
            <a:endParaRPr lang="en-IN" dirty="0"/>
          </a:p>
        </p:txBody>
      </p:sp>
      <p:pic>
        <p:nvPicPr>
          <p:cNvPr id="6" name="Picture 5">
            <a:extLst>
              <a:ext uri="{FF2B5EF4-FFF2-40B4-BE49-F238E27FC236}">
                <a16:creationId xmlns:a16="http://schemas.microsoft.com/office/drawing/2014/main" id="{8BD685CE-6316-FA07-F847-7BE6203B6FCA}"/>
              </a:ext>
            </a:extLst>
          </p:cNvPr>
          <p:cNvPicPr>
            <a:picLocks noChangeAspect="1"/>
          </p:cNvPicPr>
          <p:nvPr/>
        </p:nvPicPr>
        <p:blipFill rotWithShape="1">
          <a:blip r:embed="rId2">
            <a:extLst>
              <a:ext uri="{28A0092B-C50C-407E-A947-70E740481C1C}">
                <a14:useLocalDpi xmlns:a14="http://schemas.microsoft.com/office/drawing/2010/main" val="0"/>
              </a:ext>
            </a:extLst>
          </a:blip>
          <a:srcRect b="14582"/>
          <a:stretch/>
        </p:blipFill>
        <p:spPr>
          <a:xfrm>
            <a:off x="593883" y="2776050"/>
            <a:ext cx="11004234" cy="3716825"/>
          </a:xfrm>
          <a:prstGeom prst="rect">
            <a:avLst/>
          </a:prstGeom>
        </p:spPr>
      </p:pic>
    </p:spTree>
    <p:extLst>
      <p:ext uri="{BB962C8B-B14F-4D97-AF65-F5344CB8AC3E}">
        <p14:creationId xmlns:p14="http://schemas.microsoft.com/office/powerpoint/2010/main" val="144822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5A04C2F-6CCE-D5D1-9485-4CFAEA394085}"/>
              </a:ext>
            </a:extLst>
          </p:cNvPr>
          <p:cNvSpPr>
            <a:spLocks noGrp="1"/>
          </p:cNvSpPr>
          <p:nvPr>
            <p:ph type="title"/>
          </p:nvPr>
        </p:nvSpPr>
        <p:spPr/>
        <p:txBody>
          <a:bodyPr>
            <a:normAutofit/>
          </a:bodyPr>
          <a:lstStyle/>
          <a:p>
            <a:r>
              <a:rPr lang="en-IN" dirty="0"/>
              <a:t>Demographic Analysis</a:t>
            </a:r>
          </a:p>
        </p:txBody>
      </p:sp>
      <p:sp>
        <p:nvSpPr>
          <p:cNvPr id="19" name="Text Placeholder 18">
            <a:extLst>
              <a:ext uri="{FF2B5EF4-FFF2-40B4-BE49-F238E27FC236}">
                <a16:creationId xmlns:a16="http://schemas.microsoft.com/office/drawing/2014/main" id="{76D90463-08E7-0438-8EF4-5FB1F782B342}"/>
              </a:ext>
            </a:extLst>
          </p:cNvPr>
          <p:cNvSpPr>
            <a:spLocks noGrp="1"/>
          </p:cNvSpPr>
          <p:nvPr>
            <p:ph type="body" idx="1"/>
          </p:nvPr>
        </p:nvSpPr>
        <p:spPr/>
        <p:txBody>
          <a:bodyPr/>
          <a:lstStyle/>
          <a:p>
            <a:r>
              <a:rPr lang="en-IN" dirty="0"/>
              <a:t>Attrition by Age</a:t>
            </a:r>
          </a:p>
        </p:txBody>
      </p:sp>
      <p:pic>
        <p:nvPicPr>
          <p:cNvPr id="9" name="Content Placeholder 8">
            <a:extLst>
              <a:ext uri="{FF2B5EF4-FFF2-40B4-BE49-F238E27FC236}">
                <a16:creationId xmlns:a16="http://schemas.microsoft.com/office/drawing/2014/main" id="{0AF2C9ED-DCA4-8B9C-6B1D-D9D82AD052E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86390" y="2505075"/>
            <a:ext cx="5064583" cy="3684588"/>
          </a:xfrm>
        </p:spPr>
      </p:pic>
      <p:sp>
        <p:nvSpPr>
          <p:cNvPr id="20" name="Text Placeholder 19">
            <a:extLst>
              <a:ext uri="{FF2B5EF4-FFF2-40B4-BE49-F238E27FC236}">
                <a16:creationId xmlns:a16="http://schemas.microsoft.com/office/drawing/2014/main" id="{7AF584BA-04C1-C8EF-2912-C190B1FBA881}"/>
              </a:ext>
            </a:extLst>
          </p:cNvPr>
          <p:cNvSpPr>
            <a:spLocks noGrp="1"/>
          </p:cNvSpPr>
          <p:nvPr>
            <p:ph type="body" sz="quarter" idx="3"/>
          </p:nvPr>
        </p:nvSpPr>
        <p:spPr/>
        <p:txBody>
          <a:bodyPr/>
          <a:lstStyle/>
          <a:p>
            <a:r>
              <a:rPr lang="en-IN" dirty="0"/>
              <a:t>Attrition by Marital Status</a:t>
            </a:r>
          </a:p>
        </p:txBody>
      </p:sp>
      <p:pic>
        <p:nvPicPr>
          <p:cNvPr id="17" name="Content Placeholder 16">
            <a:extLst>
              <a:ext uri="{FF2B5EF4-FFF2-40B4-BE49-F238E27FC236}">
                <a16:creationId xmlns:a16="http://schemas.microsoft.com/office/drawing/2014/main" id="{21835B05-5B63-7AE4-3C2D-61601E08AF1F}"/>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03903" y="2505075"/>
            <a:ext cx="5119782" cy="3684588"/>
          </a:xfrm>
        </p:spPr>
      </p:pic>
      <p:sp>
        <p:nvSpPr>
          <p:cNvPr id="18" name="TextBox 17">
            <a:extLst>
              <a:ext uri="{FF2B5EF4-FFF2-40B4-BE49-F238E27FC236}">
                <a16:creationId xmlns:a16="http://schemas.microsoft.com/office/drawing/2014/main" id="{CEFCF803-F387-8725-1E3D-B0456E26CB87}"/>
              </a:ext>
            </a:extLst>
          </p:cNvPr>
          <p:cNvSpPr txBox="1"/>
          <p:nvPr/>
        </p:nvSpPr>
        <p:spPr>
          <a:xfrm>
            <a:off x="6895322" y="5983351"/>
            <a:ext cx="4002833" cy="253916"/>
          </a:xfrm>
          <a:prstGeom prst="rect">
            <a:avLst/>
          </a:prstGeom>
          <a:noFill/>
        </p:spPr>
        <p:txBody>
          <a:bodyPr wrap="square" rtlCol="0">
            <a:spAutoFit/>
          </a:bodyPr>
          <a:lstStyle/>
          <a:p>
            <a:r>
              <a:rPr lang="en-IN" sz="1050" dirty="0"/>
              <a:t>Divorced                                  Married                                      Single</a:t>
            </a:r>
          </a:p>
        </p:txBody>
      </p:sp>
    </p:spTree>
    <p:extLst>
      <p:ext uri="{BB962C8B-B14F-4D97-AF65-F5344CB8AC3E}">
        <p14:creationId xmlns:p14="http://schemas.microsoft.com/office/powerpoint/2010/main" val="375289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C78FEC8-F4E3-1A3A-288C-94E3E18105E2}"/>
              </a:ext>
            </a:extLst>
          </p:cNvPr>
          <p:cNvSpPr>
            <a:spLocks noGrp="1"/>
          </p:cNvSpPr>
          <p:nvPr>
            <p:ph type="title"/>
          </p:nvPr>
        </p:nvSpPr>
        <p:spPr/>
        <p:txBody>
          <a:bodyPr/>
          <a:lstStyle/>
          <a:p>
            <a:r>
              <a:rPr lang="en-IN" dirty="0"/>
              <a:t>Job Related Analysis</a:t>
            </a:r>
          </a:p>
        </p:txBody>
      </p:sp>
      <p:sp>
        <p:nvSpPr>
          <p:cNvPr id="10" name="Text Placeholder 9">
            <a:extLst>
              <a:ext uri="{FF2B5EF4-FFF2-40B4-BE49-F238E27FC236}">
                <a16:creationId xmlns:a16="http://schemas.microsoft.com/office/drawing/2014/main" id="{8DBD0E55-0C79-1BD2-59C1-4A45E86EA92B}"/>
              </a:ext>
            </a:extLst>
          </p:cNvPr>
          <p:cNvSpPr>
            <a:spLocks noGrp="1"/>
          </p:cNvSpPr>
          <p:nvPr>
            <p:ph type="body" idx="1"/>
          </p:nvPr>
        </p:nvSpPr>
        <p:spPr/>
        <p:txBody>
          <a:bodyPr/>
          <a:lstStyle/>
          <a:p>
            <a:r>
              <a:rPr lang="en-IN" dirty="0"/>
              <a:t>Attrition by Department</a:t>
            </a:r>
          </a:p>
        </p:txBody>
      </p:sp>
      <p:pic>
        <p:nvPicPr>
          <p:cNvPr id="19" name="Content Placeholder 18">
            <a:extLst>
              <a:ext uri="{FF2B5EF4-FFF2-40B4-BE49-F238E27FC236}">
                <a16:creationId xmlns:a16="http://schemas.microsoft.com/office/drawing/2014/main" id="{A301D54B-E56B-CD46-5F22-5DA29CB0BC7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6612" y="2584579"/>
            <a:ext cx="5157787" cy="3605083"/>
          </a:xfrm>
        </p:spPr>
      </p:pic>
      <p:sp>
        <p:nvSpPr>
          <p:cNvPr id="12" name="Text Placeholder 11">
            <a:extLst>
              <a:ext uri="{FF2B5EF4-FFF2-40B4-BE49-F238E27FC236}">
                <a16:creationId xmlns:a16="http://schemas.microsoft.com/office/drawing/2014/main" id="{57D42918-8246-B223-E5D2-1CACE4E2EA7B}"/>
              </a:ext>
            </a:extLst>
          </p:cNvPr>
          <p:cNvSpPr>
            <a:spLocks noGrp="1"/>
          </p:cNvSpPr>
          <p:nvPr>
            <p:ph type="body" sz="quarter" idx="3"/>
          </p:nvPr>
        </p:nvSpPr>
        <p:spPr/>
        <p:txBody>
          <a:bodyPr/>
          <a:lstStyle/>
          <a:p>
            <a:r>
              <a:rPr lang="en-IN" dirty="0"/>
              <a:t>Attrition by Job level</a:t>
            </a:r>
          </a:p>
        </p:txBody>
      </p:sp>
      <p:pic>
        <p:nvPicPr>
          <p:cNvPr id="25" name="Content Placeholder 24">
            <a:extLst>
              <a:ext uri="{FF2B5EF4-FFF2-40B4-BE49-F238E27FC236}">
                <a16:creationId xmlns:a16="http://schemas.microsoft.com/office/drawing/2014/main" id="{70027A7C-8EC9-F2B9-E81D-E06FAF3EC7A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69024" y="2584579"/>
            <a:ext cx="5183188" cy="3605083"/>
          </a:xfrm>
        </p:spPr>
      </p:pic>
    </p:spTree>
    <p:extLst>
      <p:ext uri="{BB962C8B-B14F-4D97-AF65-F5344CB8AC3E}">
        <p14:creationId xmlns:p14="http://schemas.microsoft.com/office/powerpoint/2010/main" val="154551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FEE277D-6A60-F603-2A9A-EC0B7D2B2832}"/>
              </a:ext>
            </a:extLst>
          </p:cNvPr>
          <p:cNvSpPr>
            <a:spLocks noGrp="1"/>
          </p:cNvSpPr>
          <p:nvPr>
            <p:ph type="title"/>
          </p:nvPr>
        </p:nvSpPr>
        <p:spPr/>
        <p:txBody>
          <a:bodyPr/>
          <a:lstStyle/>
          <a:p>
            <a:r>
              <a:rPr lang="en-IN" dirty="0"/>
              <a:t>Compensation &amp; Benefit Analysis </a:t>
            </a:r>
          </a:p>
        </p:txBody>
      </p:sp>
      <p:sp>
        <p:nvSpPr>
          <p:cNvPr id="15" name="Text Placeholder 14">
            <a:extLst>
              <a:ext uri="{FF2B5EF4-FFF2-40B4-BE49-F238E27FC236}">
                <a16:creationId xmlns:a16="http://schemas.microsoft.com/office/drawing/2014/main" id="{17AE24DE-F650-2E74-DF43-53BBC8903DC4}"/>
              </a:ext>
            </a:extLst>
          </p:cNvPr>
          <p:cNvSpPr>
            <a:spLocks noGrp="1"/>
          </p:cNvSpPr>
          <p:nvPr>
            <p:ph type="body" idx="1"/>
          </p:nvPr>
        </p:nvSpPr>
        <p:spPr/>
        <p:txBody>
          <a:bodyPr/>
          <a:lstStyle/>
          <a:p>
            <a:r>
              <a:rPr lang="en-IN" dirty="0"/>
              <a:t>Attrition by Percent Salary Hike</a:t>
            </a:r>
          </a:p>
        </p:txBody>
      </p:sp>
      <p:pic>
        <p:nvPicPr>
          <p:cNvPr id="20" name="Content Placeholder 19">
            <a:extLst>
              <a:ext uri="{FF2B5EF4-FFF2-40B4-BE49-F238E27FC236}">
                <a16:creationId xmlns:a16="http://schemas.microsoft.com/office/drawing/2014/main" id="{2D72684A-400C-DE0A-6C40-0E0C6DAA877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6612" y="2612571"/>
            <a:ext cx="5157786" cy="3577092"/>
          </a:xfrm>
        </p:spPr>
      </p:pic>
      <p:sp>
        <p:nvSpPr>
          <p:cNvPr id="17" name="Text Placeholder 16">
            <a:extLst>
              <a:ext uri="{FF2B5EF4-FFF2-40B4-BE49-F238E27FC236}">
                <a16:creationId xmlns:a16="http://schemas.microsoft.com/office/drawing/2014/main" id="{6143B959-FEE0-2D4F-5F5C-648BCE02E1C0}"/>
              </a:ext>
            </a:extLst>
          </p:cNvPr>
          <p:cNvSpPr>
            <a:spLocks noGrp="1"/>
          </p:cNvSpPr>
          <p:nvPr>
            <p:ph type="body" sz="quarter" idx="3"/>
          </p:nvPr>
        </p:nvSpPr>
        <p:spPr/>
        <p:txBody>
          <a:bodyPr/>
          <a:lstStyle/>
          <a:p>
            <a:r>
              <a:rPr lang="en-IN" dirty="0"/>
              <a:t>Attrition by Stock Option Level</a:t>
            </a:r>
          </a:p>
        </p:txBody>
      </p:sp>
      <p:pic>
        <p:nvPicPr>
          <p:cNvPr id="22" name="Content Placeholder 21">
            <a:extLst>
              <a:ext uri="{FF2B5EF4-FFF2-40B4-BE49-F238E27FC236}">
                <a16:creationId xmlns:a16="http://schemas.microsoft.com/office/drawing/2014/main" id="{2DDC5584-EC9C-B7D0-A0F9-FC4B74492BF4}"/>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39185" y="2505075"/>
            <a:ext cx="4849217" cy="3684588"/>
          </a:xfrm>
        </p:spPr>
      </p:pic>
    </p:spTree>
    <p:extLst>
      <p:ext uri="{BB962C8B-B14F-4D97-AF65-F5344CB8AC3E}">
        <p14:creationId xmlns:p14="http://schemas.microsoft.com/office/powerpoint/2010/main" val="605728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C8BD64-19AE-82D5-FAE9-6660FC3D6251}"/>
              </a:ext>
            </a:extLst>
          </p:cNvPr>
          <p:cNvSpPr>
            <a:spLocks noGrp="1"/>
          </p:cNvSpPr>
          <p:nvPr>
            <p:ph type="title"/>
          </p:nvPr>
        </p:nvSpPr>
        <p:spPr/>
        <p:txBody>
          <a:bodyPr/>
          <a:lstStyle/>
          <a:p>
            <a:r>
              <a:rPr lang="en-IN" dirty="0"/>
              <a:t>Work Environment &amp; Performance</a:t>
            </a:r>
          </a:p>
        </p:txBody>
      </p:sp>
      <p:sp>
        <p:nvSpPr>
          <p:cNvPr id="7" name="Text Placeholder 6">
            <a:extLst>
              <a:ext uri="{FF2B5EF4-FFF2-40B4-BE49-F238E27FC236}">
                <a16:creationId xmlns:a16="http://schemas.microsoft.com/office/drawing/2014/main" id="{7FE87837-5517-4A38-BF00-5F0D6427DE30}"/>
              </a:ext>
            </a:extLst>
          </p:cNvPr>
          <p:cNvSpPr>
            <a:spLocks noGrp="1"/>
          </p:cNvSpPr>
          <p:nvPr>
            <p:ph type="body" idx="1"/>
          </p:nvPr>
        </p:nvSpPr>
        <p:spPr/>
        <p:txBody>
          <a:bodyPr/>
          <a:lstStyle/>
          <a:p>
            <a:r>
              <a:rPr lang="en-IN" dirty="0"/>
              <a:t>Attrition by Performance Rating </a:t>
            </a:r>
          </a:p>
        </p:txBody>
      </p:sp>
      <p:pic>
        <p:nvPicPr>
          <p:cNvPr id="18" name="Content Placeholder 17">
            <a:extLst>
              <a:ext uri="{FF2B5EF4-FFF2-40B4-BE49-F238E27FC236}">
                <a16:creationId xmlns:a16="http://schemas.microsoft.com/office/drawing/2014/main" id="{BCA27DFC-3471-53C6-8763-BA3196C96F2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88" y="2603241"/>
            <a:ext cx="5098760" cy="3586422"/>
          </a:xfrm>
        </p:spPr>
      </p:pic>
      <p:sp>
        <p:nvSpPr>
          <p:cNvPr id="9" name="Text Placeholder 8">
            <a:extLst>
              <a:ext uri="{FF2B5EF4-FFF2-40B4-BE49-F238E27FC236}">
                <a16:creationId xmlns:a16="http://schemas.microsoft.com/office/drawing/2014/main" id="{33FCA1E4-4C35-7B15-2A24-1619710C27DD}"/>
              </a:ext>
            </a:extLst>
          </p:cNvPr>
          <p:cNvSpPr>
            <a:spLocks noGrp="1"/>
          </p:cNvSpPr>
          <p:nvPr>
            <p:ph type="body" sz="quarter" idx="3"/>
          </p:nvPr>
        </p:nvSpPr>
        <p:spPr/>
        <p:txBody>
          <a:bodyPr/>
          <a:lstStyle/>
          <a:p>
            <a:r>
              <a:rPr lang="en-IN" dirty="0"/>
              <a:t>Attrition by </a:t>
            </a:r>
            <a:r>
              <a:rPr lang="en-IN" dirty="0" err="1"/>
              <a:t>Envurinment</a:t>
            </a:r>
            <a:r>
              <a:rPr lang="en-IN" dirty="0"/>
              <a:t> Satisfaction </a:t>
            </a:r>
          </a:p>
        </p:txBody>
      </p:sp>
      <p:pic>
        <p:nvPicPr>
          <p:cNvPr id="14" name="Content Placeholder 13">
            <a:extLst>
              <a:ext uri="{FF2B5EF4-FFF2-40B4-BE49-F238E27FC236}">
                <a16:creationId xmlns:a16="http://schemas.microsoft.com/office/drawing/2014/main" id="{6557941B-0270-1966-E06C-15A1101A424B}"/>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53453" y="2505075"/>
            <a:ext cx="5020681" cy="3684588"/>
          </a:xfrm>
        </p:spPr>
      </p:pic>
    </p:spTree>
    <p:extLst>
      <p:ext uri="{BB962C8B-B14F-4D97-AF65-F5344CB8AC3E}">
        <p14:creationId xmlns:p14="http://schemas.microsoft.com/office/powerpoint/2010/main" val="157326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5F9A-B43D-634E-BCEA-DF873AB279B8}"/>
              </a:ext>
            </a:extLst>
          </p:cNvPr>
          <p:cNvSpPr>
            <a:spLocks noGrp="1"/>
          </p:cNvSpPr>
          <p:nvPr>
            <p:ph type="title"/>
          </p:nvPr>
        </p:nvSpPr>
        <p:spPr/>
        <p:txBody>
          <a:bodyPr/>
          <a:lstStyle/>
          <a:p>
            <a:pPr algn="ctr"/>
            <a:r>
              <a:rPr lang="en-IN" dirty="0"/>
              <a:t>Model Building </a:t>
            </a:r>
          </a:p>
        </p:txBody>
      </p:sp>
      <p:sp>
        <p:nvSpPr>
          <p:cNvPr id="3" name="Content Placeholder 2">
            <a:extLst>
              <a:ext uri="{FF2B5EF4-FFF2-40B4-BE49-F238E27FC236}">
                <a16:creationId xmlns:a16="http://schemas.microsoft.com/office/drawing/2014/main" id="{703EB2C3-4860-5616-2A8A-B469F3CD31BB}"/>
              </a:ext>
            </a:extLst>
          </p:cNvPr>
          <p:cNvSpPr>
            <a:spLocks noGrp="1"/>
          </p:cNvSpPr>
          <p:nvPr>
            <p:ph idx="1"/>
          </p:nvPr>
        </p:nvSpPr>
        <p:spPr>
          <a:xfrm>
            <a:off x="838200" y="1825625"/>
            <a:ext cx="10515600" cy="4667250"/>
          </a:xfrm>
        </p:spPr>
        <p:txBody>
          <a:bodyPr/>
          <a:lstStyle/>
          <a:p>
            <a:pPr>
              <a:buSzPct val="75000"/>
              <a:buFont typeface="Wingdings" panose="05000000000000000000" pitchFamily="2" charset="2"/>
              <a:buChar char="Ø"/>
            </a:pPr>
            <a:r>
              <a:rPr lang="en-US" dirty="0"/>
              <a:t>Purpose: To classify employees into two groups - those likely to leave (attrition) and those likely to stay .</a:t>
            </a:r>
          </a:p>
          <a:p>
            <a:pPr>
              <a:buSzPct val="75000"/>
              <a:buFont typeface="Wingdings" panose="05000000000000000000" pitchFamily="2" charset="2"/>
              <a:buChar char="Ø"/>
            </a:pPr>
            <a:r>
              <a:rPr lang="en-US" dirty="0"/>
              <a:t>Decision Tree Classifier </a:t>
            </a:r>
          </a:p>
          <a:p>
            <a:pPr>
              <a:buSzPct val="75000"/>
            </a:pPr>
            <a:r>
              <a:rPr lang="en-US" dirty="0"/>
              <a:t>Choice of Model: A Decision Tree Classifier is chosen for its </a:t>
            </a:r>
          </a:p>
          <a:p>
            <a:pPr marL="0" indent="0">
              <a:buSzPct val="75000"/>
              <a:buNone/>
            </a:pPr>
            <a:r>
              <a:rPr lang="en-US" dirty="0"/>
              <a:t>   Interpretability and ability to handle non-linear relationships .</a:t>
            </a:r>
          </a:p>
          <a:p>
            <a:pPr>
              <a:buSzPct val="75000"/>
              <a:buFont typeface="Wingdings" panose="05000000000000000000" pitchFamily="2" charset="2"/>
              <a:buChar char="Ø"/>
            </a:pPr>
            <a:r>
              <a:rPr lang="en-US" dirty="0"/>
              <a:t>Features Used: Key variables (e.g., job satisfaction, years at the company, salary level) used to predict attrition.</a:t>
            </a:r>
            <a:endParaRPr lang="en-IN" dirty="0"/>
          </a:p>
        </p:txBody>
      </p:sp>
    </p:spTree>
    <p:extLst>
      <p:ext uri="{BB962C8B-B14F-4D97-AF65-F5344CB8AC3E}">
        <p14:creationId xmlns:p14="http://schemas.microsoft.com/office/powerpoint/2010/main" val="1719301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9ED81EA-1F0A-E051-E66B-BA838583E995}"/>
              </a:ext>
            </a:extLst>
          </p:cNvPr>
          <p:cNvSpPr>
            <a:spLocks noGrp="1"/>
          </p:cNvSpPr>
          <p:nvPr>
            <p:ph idx="4294967295"/>
          </p:nvPr>
        </p:nvSpPr>
        <p:spPr>
          <a:xfrm>
            <a:off x="0" y="177800"/>
            <a:ext cx="10515600" cy="5999163"/>
          </a:xfrm>
        </p:spPr>
        <p:txBody>
          <a:bodyPr>
            <a:normAutofit/>
          </a:bodyPr>
          <a:lstStyle/>
          <a:p>
            <a:pPr>
              <a:buFont typeface="Wingdings" panose="05000000000000000000" pitchFamily="2" charset="2"/>
              <a:buChar char="Ø"/>
            </a:pPr>
            <a:r>
              <a:rPr lang="en-US" dirty="0"/>
              <a:t>Model Training </a:t>
            </a:r>
          </a:p>
          <a:p>
            <a:r>
              <a:rPr lang="en-US" dirty="0"/>
              <a:t>Balance Data : Convert unbalance data in balance data for training .</a:t>
            </a:r>
          </a:p>
          <a:p>
            <a:r>
              <a:rPr lang="en-US" dirty="0"/>
              <a:t>Data Splitting: Dataset divided into training and testing sets .</a:t>
            </a:r>
          </a:p>
          <a:p>
            <a:pPr>
              <a:buFont typeface="Wingdings" panose="05000000000000000000" pitchFamily="2" charset="2"/>
              <a:buChar char="Ø"/>
            </a:pPr>
            <a:r>
              <a:rPr lang="en-US" dirty="0"/>
              <a:t>Model Performance </a:t>
            </a:r>
          </a:p>
          <a:p>
            <a:r>
              <a:rPr lang="en-US" dirty="0"/>
              <a:t>Accuracy: Measurement of how well the model predicts employee attrition.</a:t>
            </a:r>
          </a:p>
          <a:p>
            <a:pPr>
              <a:buFont typeface="Wingdings" panose="05000000000000000000" pitchFamily="2" charset="2"/>
              <a:buChar char="Ø"/>
            </a:pPr>
            <a:r>
              <a:rPr lang="en-US" dirty="0"/>
              <a:t>Implementation </a:t>
            </a:r>
          </a:p>
          <a:p>
            <a:r>
              <a:rPr lang="en-US" dirty="0"/>
              <a:t>Predictive Analysis: Use of the model to forecast potential attrition risk among current employees .</a:t>
            </a:r>
          </a:p>
          <a:p>
            <a:r>
              <a:rPr lang="en-US" dirty="0"/>
              <a:t>Risk Mitigation Strategies: Developing targeted strategies to address high-risk areas identified by the model.</a:t>
            </a:r>
            <a:endParaRPr lang="en-IN" dirty="0"/>
          </a:p>
        </p:txBody>
      </p:sp>
    </p:spTree>
    <p:extLst>
      <p:ext uri="{BB962C8B-B14F-4D97-AF65-F5344CB8AC3E}">
        <p14:creationId xmlns:p14="http://schemas.microsoft.com/office/powerpoint/2010/main" val="3752038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9F2B-E075-6C61-2B18-47AB9F69F6D6}"/>
              </a:ext>
            </a:extLst>
          </p:cNvPr>
          <p:cNvSpPr>
            <a:spLocks noGrp="1"/>
          </p:cNvSpPr>
          <p:nvPr>
            <p:ph type="title"/>
          </p:nvPr>
        </p:nvSpPr>
        <p:spPr/>
        <p:txBody>
          <a:bodyPr/>
          <a:lstStyle/>
          <a:p>
            <a:r>
              <a:rPr lang="en-IN" dirty="0"/>
              <a:t>Model Building Code</a:t>
            </a:r>
          </a:p>
        </p:txBody>
      </p:sp>
      <p:pic>
        <p:nvPicPr>
          <p:cNvPr id="5" name="Content Placeholder 4">
            <a:extLst>
              <a:ext uri="{FF2B5EF4-FFF2-40B4-BE49-F238E27FC236}">
                <a16:creationId xmlns:a16="http://schemas.microsoft.com/office/drawing/2014/main" id="{0E8BC785-7298-F735-4873-B15D55D6B3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214" y="1825625"/>
            <a:ext cx="8655571" cy="4351338"/>
          </a:xfrm>
        </p:spPr>
      </p:pic>
    </p:spTree>
    <p:extLst>
      <p:ext uri="{BB962C8B-B14F-4D97-AF65-F5344CB8AC3E}">
        <p14:creationId xmlns:p14="http://schemas.microsoft.com/office/powerpoint/2010/main" val="2446079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9B35-E7DB-4F4E-DD0F-9F7CF53B4104}"/>
              </a:ext>
            </a:extLst>
          </p:cNvPr>
          <p:cNvSpPr>
            <a:spLocks noGrp="1"/>
          </p:cNvSpPr>
          <p:nvPr>
            <p:ph type="title"/>
          </p:nvPr>
        </p:nvSpPr>
        <p:spPr/>
        <p:txBody>
          <a:bodyPr/>
          <a:lstStyle/>
          <a:p>
            <a:pPr algn="ctr"/>
            <a:r>
              <a:rPr lang="en-IN" dirty="0"/>
              <a:t>Insights and Patterns</a:t>
            </a:r>
          </a:p>
        </p:txBody>
      </p:sp>
      <p:sp>
        <p:nvSpPr>
          <p:cNvPr id="3" name="Content Placeholder 2">
            <a:extLst>
              <a:ext uri="{FF2B5EF4-FFF2-40B4-BE49-F238E27FC236}">
                <a16:creationId xmlns:a16="http://schemas.microsoft.com/office/drawing/2014/main" id="{24EA2DDB-CEB8-E766-F25B-DC78C8258045}"/>
              </a:ext>
            </a:extLst>
          </p:cNvPr>
          <p:cNvSpPr>
            <a:spLocks noGrp="1"/>
          </p:cNvSpPr>
          <p:nvPr>
            <p:ph idx="1"/>
          </p:nvPr>
        </p:nvSpPr>
        <p:spPr/>
        <p:txBody>
          <a:bodyPr>
            <a:normAutofit/>
          </a:bodyPr>
          <a:lstStyle/>
          <a:p>
            <a:pPr>
              <a:buSzPct val="75000"/>
            </a:pPr>
            <a:r>
              <a:rPr lang="en-US" dirty="0"/>
              <a:t>Major Patterns Identified Demographic Trends:  Higher attrition rates in age of 18 to 25 who have single .</a:t>
            </a:r>
          </a:p>
          <a:p>
            <a:pPr>
              <a:buSzPct val="75000"/>
            </a:pPr>
            <a:r>
              <a:rPr lang="en-US" dirty="0"/>
              <a:t>Compensation Factors : More Attrition rates find in Employee with low salary hike and low stock option level.</a:t>
            </a:r>
          </a:p>
          <a:p>
            <a:pPr>
              <a:buSzPct val="75000"/>
            </a:pPr>
            <a:r>
              <a:rPr lang="en-US" dirty="0"/>
              <a:t>Work Environment :Employee have low work life balance and low job level and not satisfy in job environment have higher attrition count.</a:t>
            </a:r>
          </a:p>
          <a:p>
            <a:pPr>
              <a:buSzPct val="75000"/>
            </a:pPr>
            <a:r>
              <a:rPr lang="en-US" dirty="0"/>
              <a:t>Predictive Factors of Attrition Top Predictors: Age , Job Satisfaction , percent hike Salary , job level , distance from home  are the most influential variables in predicting attrition model</a:t>
            </a:r>
          </a:p>
          <a:p>
            <a:pPr>
              <a:buSzPct val="75000"/>
            </a:pPr>
            <a:endParaRPr lang="en-IN" dirty="0"/>
          </a:p>
        </p:txBody>
      </p:sp>
    </p:spTree>
    <p:extLst>
      <p:ext uri="{BB962C8B-B14F-4D97-AF65-F5344CB8AC3E}">
        <p14:creationId xmlns:p14="http://schemas.microsoft.com/office/powerpoint/2010/main" val="4237817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DA45-96B5-C79E-6CA1-BA809A192DF5}"/>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F911C270-98DE-37BC-D8B8-8B09AC0A48BD}"/>
              </a:ext>
            </a:extLst>
          </p:cNvPr>
          <p:cNvSpPr>
            <a:spLocks noGrp="1"/>
          </p:cNvSpPr>
          <p:nvPr>
            <p:ph idx="1"/>
          </p:nvPr>
        </p:nvSpPr>
        <p:spPr>
          <a:xfrm>
            <a:off x="838200" y="0"/>
            <a:ext cx="10515600" cy="6176963"/>
          </a:xfrm>
        </p:spPr>
        <p:txBody>
          <a:bodyPr>
            <a:normAutofit/>
          </a:bodyPr>
          <a:lstStyle/>
          <a:p>
            <a:r>
              <a:rPr lang="en-US" dirty="0"/>
              <a:t>Policy Recommendations: </a:t>
            </a:r>
          </a:p>
          <a:p>
            <a:pPr marL="0" indent="0">
              <a:buNone/>
            </a:pPr>
            <a:r>
              <a:rPr lang="en-US" dirty="0"/>
              <a:t>Regular Employee Feedback : Implement routine surveys and feedback mechanisms to understand employee needs and concerns .</a:t>
            </a:r>
          </a:p>
          <a:p>
            <a:pPr marL="0" indent="0">
              <a:buNone/>
            </a:pPr>
            <a:r>
              <a:rPr lang="en-US" dirty="0"/>
              <a:t>Recognition and Reward Programs : Acknowledge and reward outstanding performance and contributions.</a:t>
            </a:r>
          </a:p>
          <a:p>
            <a:pPr marL="0" indent="0">
              <a:buNone/>
            </a:pPr>
            <a:r>
              <a:rPr lang="en-US" dirty="0"/>
              <a:t>Professional Development Programs : Offer training, workshops, and courses for skill enhancement and career growth .  </a:t>
            </a:r>
          </a:p>
          <a:p>
            <a:pPr marL="0" indent="0">
              <a:buNone/>
            </a:pPr>
            <a:r>
              <a:rPr lang="en-US" dirty="0"/>
              <a:t>Clear Career Pathways : Provide transparent and achievable career progression opportunities .</a:t>
            </a:r>
          </a:p>
          <a:p>
            <a:pPr marL="0" indent="0">
              <a:buNone/>
            </a:pPr>
            <a:r>
              <a:rPr lang="en-US" dirty="0"/>
              <a:t>Flexible Work Arrangements : Allow flexible hours, remote work options, or compressed workweeks .</a:t>
            </a:r>
          </a:p>
          <a:p>
            <a:pPr marL="0" indent="0">
              <a:buNone/>
            </a:pPr>
            <a:r>
              <a:rPr lang="en-US" dirty="0"/>
              <a:t>Wellness and Mental Health Support : Prioritize employee wellness with initiatives like wellness programs or mental health days.</a:t>
            </a:r>
          </a:p>
        </p:txBody>
      </p:sp>
    </p:spTree>
    <p:extLst>
      <p:ext uri="{BB962C8B-B14F-4D97-AF65-F5344CB8AC3E}">
        <p14:creationId xmlns:p14="http://schemas.microsoft.com/office/powerpoint/2010/main" val="3012156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6C0DD-6BDD-E3F2-7AE7-9D415FE56C0A}"/>
              </a:ext>
            </a:extLst>
          </p:cNvPr>
          <p:cNvSpPr>
            <a:spLocks noGrp="1"/>
          </p:cNvSpPr>
          <p:nvPr>
            <p:ph type="title"/>
          </p:nvPr>
        </p:nvSpPr>
        <p:spPr/>
        <p:txBody>
          <a:bodyPr/>
          <a:lstStyle/>
          <a:p>
            <a:pPr algn="ctr"/>
            <a:r>
              <a:rPr lang="en-IN" dirty="0"/>
              <a:t>Challenges &amp; Solutions</a:t>
            </a:r>
          </a:p>
        </p:txBody>
      </p:sp>
      <p:sp>
        <p:nvSpPr>
          <p:cNvPr id="3" name="Content Placeholder 2">
            <a:extLst>
              <a:ext uri="{FF2B5EF4-FFF2-40B4-BE49-F238E27FC236}">
                <a16:creationId xmlns:a16="http://schemas.microsoft.com/office/drawing/2014/main" id="{9C8EF6A2-3C0B-2646-4371-2DBEB12827EB}"/>
              </a:ext>
            </a:extLst>
          </p:cNvPr>
          <p:cNvSpPr>
            <a:spLocks noGrp="1"/>
          </p:cNvSpPr>
          <p:nvPr>
            <p:ph idx="1"/>
          </p:nvPr>
        </p:nvSpPr>
        <p:spPr/>
        <p:txBody>
          <a:bodyPr>
            <a:normAutofit/>
          </a:bodyPr>
          <a:lstStyle/>
          <a:p>
            <a:pPr>
              <a:buFont typeface="Wingdings" panose="05000000000000000000" pitchFamily="2" charset="2"/>
              <a:buChar char="Ø"/>
            </a:pPr>
            <a:r>
              <a:rPr lang="en-US" dirty="0"/>
              <a:t>Data Quality and Completeness:</a:t>
            </a:r>
          </a:p>
          <a:p>
            <a:r>
              <a:rPr lang="en-US" dirty="0"/>
              <a:t>Inconsistent or incomplete data can lead to inaccurate predictions.</a:t>
            </a:r>
          </a:p>
          <a:p>
            <a:r>
              <a:rPr lang="en-US" dirty="0"/>
              <a:t>Solution: Implement robust data cleaning and preprocessing methods.</a:t>
            </a:r>
          </a:p>
          <a:p>
            <a:pPr>
              <a:buFont typeface="Wingdings" panose="05000000000000000000" pitchFamily="2" charset="2"/>
              <a:buChar char="Ø"/>
            </a:pPr>
            <a:r>
              <a:rPr lang="en-US" dirty="0"/>
              <a:t>Model Complexity vs. Interpretability:</a:t>
            </a:r>
          </a:p>
          <a:p>
            <a:r>
              <a:rPr lang="en-US" dirty="0"/>
              <a:t>Striking a balance between a model that is both accurate and easy to interpret.</a:t>
            </a:r>
          </a:p>
          <a:p>
            <a:r>
              <a:rPr lang="en-US" dirty="0"/>
              <a:t>Solution: Decision Tree Classifier provides a good balance, being interpretable and reasonably accurate.</a:t>
            </a:r>
            <a:endParaRPr lang="en-IN" dirty="0"/>
          </a:p>
        </p:txBody>
      </p:sp>
    </p:spTree>
    <p:extLst>
      <p:ext uri="{BB962C8B-B14F-4D97-AF65-F5344CB8AC3E}">
        <p14:creationId xmlns:p14="http://schemas.microsoft.com/office/powerpoint/2010/main" val="3388013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FE9DFD-AF88-955E-4981-BAE765DE3E1E}"/>
              </a:ext>
            </a:extLst>
          </p:cNvPr>
          <p:cNvSpPr>
            <a:spLocks noGrp="1"/>
          </p:cNvSpPr>
          <p:nvPr>
            <p:ph idx="4294967295"/>
          </p:nvPr>
        </p:nvSpPr>
        <p:spPr>
          <a:xfrm>
            <a:off x="0" y="93663"/>
            <a:ext cx="10515600" cy="6083300"/>
          </a:xfrm>
        </p:spPr>
        <p:txBody>
          <a:bodyPr/>
          <a:lstStyle/>
          <a:p>
            <a:pPr>
              <a:buFont typeface="Wingdings" panose="05000000000000000000" pitchFamily="2" charset="2"/>
              <a:buChar char="Ø"/>
            </a:pPr>
            <a:r>
              <a:rPr lang="en-US" dirty="0"/>
              <a:t>Changing Employee Dynamics:</a:t>
            </a:r>
          </a:p>
          <a:p>
            <a:r>
              <a:rPr lang="en-US" dirty="0"/>
              <a:t>Employee behavior and factors influencing attrition may change over time.</a:t>
            </a:r>
          </a:p>
          <a:p>
            <a:r>
              <a:rPr lang="en-US" dirty="0"/>
              <a:t>Solution: Regular model updates and retraining with new data.</a:t>
            </a:r>
          </a:p>
          <a:p>
            <a:pPr>
              <a:buFont typeface="Wingdings" panose="05000000000000000000" pitchFamily="2" charset="2"/>
              <a:buChar char="Ø"/>
            </a:pPr>
            <a:r>
              <a:rPr lang="en-US" dirty="0"/>
              <a:t>Solutions to Enhance Model Efficacy</a:t>
            </a:r>
          </a:p>
          <a:p>
            <a:r>
              <a:rPr lang="en-US" dirty="0"/>
              <a:t>Continuous Data Monitoring :Regularly update the dataset to capture the latest trends and patterns.</a:t>
            </a:r>
          </a:p>
          <a:p>
            <a:r>
              <a:rPr lang="en-US" dirty="0"/>
              <a:t>Incorporating Employee Feedback : Utilize surveys or feedback tools to gather more qualitative data that can enhance the model.</a:t>
            </a:r>
          </a:p>
          <a:p>
            <a:r>
              <a:rPr lang="en-US" dirty="0"/>
              <a:t>Stakeholder Engagement : Work closely with HR professionals to understand domain-specific nuances and incorporate their insights into the model.</a:t>
            </a:r>
            <a:endParaRPr lang="en-IN" dirty="0"/>
          </a:p>
        </p:txBody>
      </p:sp>
    </p:spTree>
    <p:extLst>
      <p:ext uri="{BB962C8B-B14F-4D97-AF65-F5344CB8AC3E}">
        <p14:creationId xmlns:p14="http://schemas.microsoft.com/office/powerpoint/2010/main" val="3710730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87ED8-8011-866B-9433-3626D6E50C3B}"/>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A5F6B20F-17A3-4FBC-15E6-E45749209206}"/>
              </a:ext>
            </a:extLst>
          </p:cNvPr>
          <p:cNvSpPr>
            <a:spLocks noGrp="1"/>
          </p:cNvSpPr>
          <p:nvPr>
            <p:ph idx="1"/>
          </p:nvPr>
        </p:nvSpPr>
        <p:spPr/>
        <p:txBody>
          <a:bodyPr/>
          <a:lstStyle/>
          <a:p>
            <a:pPr>
              <a:buFont typeface="Wingdings" panose="05000000000000000000" pitchFamily="2" charset="2"/>
              <a:buChar char="Ø"/>
            </a:pPr>
            <a:r>
              <a:rPr lang="en-US" dirty="0"/>
              <a:t>Summarizing key finding</a:t>
            </a:r>
          </a:p>
          <a:p>
            <a:r>
              <a:rPr lang="en-US" dirty="0"/>
              <a:t>Effective Prediction: The Decision Tree Classifier successfully identifies key factors contributing to employee attrition.</a:t>
            </a:r>
          </a:p>
          <a:p>
            <a:r>
              <a:rPr lang="en-US" dirty="0"/>
              <a:t>Insights into Attrition Drivers: Analysis highlights critical areas such as job satisfaction, work-life balance, and compensation as major influencers.</a:t>
            </a:r>
          </a:p>
          <a:p>
            <a:r>
              <a:rPr lang="en-US" dirty="0"/>
              <a:t>Data-Driven HR Strategies: The model provides actionable insights, enabling targeted strategies to reduce attrition rates.</a:t>
            </a:r>
            <a:endParaRPr lang="en-IN" dirty="0"/>
          </a:p>
        </p:txBody>
      </p:sp>
    </p:spTree>
    <p:extLst>
      <p:ext uri="{BB962C8B-B14F-4D97-AF65-F5344CB8AC3E}">
        <p14:creationId xmlns:p14="http://schemas.microsoft.com/office/powerpoint/2010/main" val="619149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989895-578F-16D1-7CFE-2BA9A32D881B}"/>
              </a:ext>
            </a:extLst>
          </p:cNvPr>
          <p:cNvSpPr txBox="1"/>
          <p:nvPr/>
        </p:nvSpPr>
        <p:spPr>
          <a:xfrm>
            <a:off x="1091682" y="0"/>
            <a:ext cx="9022702" cy="6984000"/>
          </a:xfrm>
          <a:prstGeom prst="rect">
            <a:avLst/>
          </a:prstGeom>
          <a:noFill/>
        </p:spPr>
        <p:txBody>
          <a:bodyPr wrap="square">
            <a:spAutoFit/>
          </a:bodyPr>
          <a:lstStyle/>
          <a:p>
            <a:pPr marL="457200" indent="-457200">
              <a:buFont typeface="Wingdings" panose="05000000000000000000" pitchFamily="2" charset="2"/>
              <a:buChar char="Ø"/>
            </a:pPr>
            <a:r>
              <a:rPr lang="en-IN" sz="2800" dirty="0"/>
              <a:t>Impact on the Organization </a:t>
            </a:r>
          </a:p>
          <a:p>
            <a:pPr marL="457200" indent="-457200">
              <a:buFont typeface="Arial" panose="020B0604020202020204" pitchFamily="34" charset="0"/>
              <a:buChar char="•"/>
            </a:pPr>
            <a:r>
              <a:rPr lang="en-IN" sz="2800" dirty="0"/>
              <a:t>Enhanced HR Decision-Making: Empowers HR with predictive tools to proactively address attrition risks.</a:t>
            </a:r>
          </a:p>
          <a:p>
            <a:pPr marL="457200" indent="-457200">
              <a:buFont typeface="Arial" panose="020B0604020202020204" pitchFamily="34" charset="0"/>
              <a:buChar char="•"/>
            </a:pPr>
            <a:r>
              <a:rPr lang="en-IN" sz="2800" dirty="0"/>
              <a:t>Improved Employee Retention: Potential to significantly reduce turnover rates, enhancing organizational stability.</a:t>
            </a:r>
          </a:p>
          <a:p>
            <a:pPr marL="457200" indent="-457200">
              <a:buFont typeface="Arial" panose="020B0604020202020204" pitchFamily="34" charset="0"/>
              <a:buChar char="•"/>
            </a:pPr>
            <a:r>
              <a:rPr lang="en-IN" sz="2800" dirty="0"/>
              <a:t>Cost Savings: Lower attrition rates lead to reduced costs related to hiring and training new employees .</a:t>
            </a:r>
          </a:p>
          <a:p>
            <a:pPr marL="457200" indent="-457200">
              <a:buFont typeface="Wingdings" panose="05000000000000000000" pitchFamily="2" charset="2"/>
              <a:buChar char="Ø"/>
            </a:pPr>
            <a:r>
              <a:rPr lang="en-IN" sz="2800" dirty="0"/>
              <a:t>Future Directions </a:t>
            </a:r>
          </a:p>
          <a:p>
            <a:pPr marL="457200" indent="-457200">
              <a:buFont typeface="Arial" panose="020B0604020202020204" pitchFamily="34" charset="0"/>
              <a:buChar char="•"/>
            </a:pPr>
            <a:r>
              <a:rPr lang="en-IN" sz="2800" dirty="0"/>
              <a:t>Model Refinement and Updates: Continuous improvement of the model with new data and feedback .</a:t>
            </a:r>
          </a:p>
          <a:p>
            <a:pPr marL="457200" indent="-457200">
              <a:buFont typeface="Arial" panose="020B0604020202020204" pitchFamily="34" charset="0"/>
              <a:buChar char="•"/>
            </a:pPr>
            <a:r>
              <a:rPr lang="en-IN" sz="2800" dirty="0"/>
              <a:t>Broader Application Scope: Extend analysis to other aspects of HR like talent acquisition, employee engagement, etc .</a:t>
            </a:r>
          </a:p>
          <a:p>
            <a:pPr marL="457200" indent="-457200">
              <a:buFont typeface="Arial" panose="020B0604020202020204" pitchFamily="34" charset="0"/>
              <a:buChar char="•"/>
            </a:pPr>
            <a:r>
              <a:rPr lang="en-IN" sz="2800" dirty="0"/>
              <a:t>Integration with HR Systems : Streamline the model's integration into existing HR workflows for real-time analysis</a:t>
            </a:r>
            <a:r>
              <a:rPr lang="en-IN" dirty="0"/>
              <a:t>.</a:t>
            </a:r>
          </a:p>
        </p:txBody>
      </p:sp>
    </p:spTree>
    <p:extLst>
      <p:ext uri="{BB962C8B-B14F-4D97-AF65-F5344CB8AC3E}">
        <p14:creationId xmlns:p14="http://schemas.microsoft.com/office/powerpoint/2010/main" val="2452154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322</TotalTime>
  <Words>1463</Words>
  <Application>Microsoft Office PowerPoint</Application>
  <PresentationFormat>Widescreen</PresentationFormat>
  <Paragraphs>115</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 Theme</vt:lpstr>
      <vt:lpstr>Employee Attrition Analysis Project</vt:lpstr>
      <vt:lpstr>Agenda</vt:lpstr>
      <vt:lpstr>Introduction</vt:lpstr>
      <vt:lpstr>Understanding HR Attrition</vt:lpstr>
      <vt:lpstr>    </vt:lpstr>
      <vt:lpstr>Project Overview</vt:lpstr>
      <vt:lpstr> </vt:lpstr>
      <vt:lpstr>Data Handling</vt:lpstr>
      <vt:lpstr> </vt:lpstr>
      <vt:lpstr>Exploratory Data Analysis (EDA)</vt:lpstr>
      <vt:lpstr>Demographic Analysis</vt:lpstr>
      <vt:lpstr>Job Related Analysis</vt:lpstr>
      <vt:lpstr>Compensation &amp; Benefit Analysis </vt:lpstr>
      <vt:lpstr>Work Environment &amp; Performance</vt:lpstr>
      <vt:lpstr>Model Building </vt:lpstr>
      <vt:lpstr>PowerPoint Presentation</vt:lpstr>
      <vt:lpstr>Model Building Code</vt:lpstr>
      <vt:lpstr>Insights and Patterns</vt:lpstr>
      <vt:lpstr> </vt:lpstr>
      <vt:lpstr>Challenges &amp; Solutions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Analysis Project</dc:title>
  <dc:creator>Prathamesh Pangare</dc:creator>
  <cp:lastModifiedBy>Prathamesh Pangare</cp:lastModifiedBy>
  <cp:revision>5</cp:revision>
  <dcterms:created xsi:type="dcterms:W3CDTF">2024-01-05T09:11:38Z</dcterms:created>
  <dcterms:modified xsi:type="dcterms:W3CDTF">2024-01-07T11:43:13Z</dcterms:modified>
</cp:coreProperties>
</file>